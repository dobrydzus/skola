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 Light" charset="1" panose="000004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36729"/>
            <a:ext cx="16230600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PETER FERDINAND DRUCKER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91347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69019" y="6018341"/>
            <a:ext cx="654996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PATRIK SCHNEIDER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901" y="3271988"/>
            <a:ext cx="544214" cy="544214"/>
            <a:chOff x="0" y="0"/>
            <a:chExt cx="725618" cy="72561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7901" y="4891238"/>
            <a:ext cx="544214" cy="544214"/>
            <a:chOff x="0" y="0"/>
            <a:chExt cx="725618" cy="72561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205997" y="3271988"/>
            <a:ext cx="544214" cy="544214"/>
            <a:chOff x="0" y="0"/>
            <a:chExt cx="725618" cy="72561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05997" y="4889977"/>
            <a:ext cx="544214" cy="544214"/>
            <a:chOff x="0" y="0"/>
            <a:chExt cx="725618" cy="72561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750857" y="1948180"/>
            <a:ext cx="7069761" cy="8629434"/>
          </a:xfrm>
          <a:custGeom>
            <a:avLst/>
            <a:gdLst/>
            <a:ahLst/>
            <a:cxnLst/>
            <a:rect r="r" b="b" t="t" l="l"/>
            <a:pathLst>
              <a:path h="8629434" w="7069761">
                <a:moveTo>
                  <a:pt x="0" y="0"/>
                </a:moveTo>
                <a:lnTo>
                  <a:pt x="7069761" y="0"/>
                </a:lnTo>
                <a:lnTo>
                  <a:pt x="7069761" y="8629434"/>
                </a:lnTo>
                <a:lnTo>
                  <a:pt x="0" y="8629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866775"/>
            <a:ext cx="1183877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ŽIVOTOPIS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80021" y="3204052"/>
            <a:ext cx="449808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NAROZEN 1909 VE VÍDNI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80021" y="4823302"/>
            <a:ext cx="449808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STUDOVAL PRÁVA A EKONOMII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52774" y="3205313"/>
            <a:ext cx="4498083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 NÁSTUPU NACISMU ODEŠEL DO ANGLIE, POZDĚJI DO USA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52774" y="4823302"/>
            <a:ext cx="3057612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PŮSOBIL JAKO PROFESOR NA UNIVERZITÁCH A PORADCE FIREM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901" y="3271988"/>
            <a:ext cx="544214" cy="544214"/>
            <a:chOff x="0" y="0"/>
            <a:chExt cx="725618" cy="72561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7901" y="4891238"/>
            <a:ext cx="544214" cy="544214"/>
            <a:chOff x="0" y="0"/>
            <a:chExt cx="725618" cy="72561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205997" y="3271988"/>
            <a:ext cx="544214" cy="544214"/>
            <a:chOff x="0" y="0"/>
            <a:chExt cx="725618" cy="72561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05997" y="4889977"/>
            <a:ext cx="544214" cy="544214"/>
            <a:chOff x="0" y="0"/>
            <a:chExt cx="725618" cy="72561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218239" y="1877060"/>
            <a:ext cx="7069761" cy="8629434"/>
          </a:xfrm>
          <a:custGeom>
            <a:avLst/>
            <a:gdLst/>
            <a:ahLst/>
            <a:cxnLst/>
            <a:rect r="r" b="b" t="t" l="l"/>
            <a:pathLst>
              <a:path h="8629434" w="7069761">
                <a:moveTo>
                  <a:pt x="0" y="0"/>
                </a:moveTo>
                <a:lnTo>
                  <a:pt x="7069761" y="0"/>
                </a:lnTo>
                <a:lnTo>
                  <a:pt x="7069761" y="8629434"/>
                </a:lnTo>
                <a:lnTo>
                  <a:pt x="0" y="8629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498" t="0" r="-58498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866775"/>
            <a:ext cx="11838778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MYŠLENKY A KONCEPTY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80021" y="3204052"/>
            <a:ext cx="449808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ŘÍZENÍ PODLE CÍLŮ (MBO)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80021" y="4823302"/>
            <a:ext cx="406175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VZDĚLÁVÁNÍ A SEBEROZVOJ MANAŽERŮ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52774" y="3205313"/>
            <a:ext cx="449808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LIDÉ JAKO NEJDŮLEŽITĚJŠÍ ZDROJ FIRMY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52774" y="4823302"/>
            <a:ext cx="4301717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INOVACE A PODNIKATELSKÝ DUCH JSOU KLÍČEM K ÚSPĚCHU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21003"/>
            <a:ext cx="243225" cy="261738"/>
            <a:chOff x="0" y="0"/>
            <a:chExt cx="64059" cy="6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540316"/>
            <a:ext cx="243225" cy="261738"/>
            <a:chOff x="0" y="0"/>
            <a:chExt cx="64059" cy="689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59" cy="68935"/>
            </a:xfrm>
            <a:custGeom>
              <a:avLst/>
              <a:gdLst/>
              <a:ahLst/>
              <a:cxnLst/>
              <a:rect r="r" b="b" t="t" l="l"/>
              <a:pathLst>
                <a:path h="68935" w="64059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0343653" y="310769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32569">
            <a:off x="10638204" y="877920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62276" y="4879067"/>
            <a:ext cx="5625724" cy="5625724"/>
          </a:xfrm>
          <a:custGeom>
            <a:avLst/>
            <a:gdLst/>
            <a:ahLst/>
            <a:cxnLst/>
            <a:rect r="r" b="b" t="t" l="l"/>
            <a:pathLst>
              <a:path h="5625724" w="5625724">
                <a:moveTo>
                  <a:pt x="0" y="0"/>
                </a:moveTo>
                <a:lnTo>
                  <a:pt x="5625724" y="0"/>
                </a:lnTo>
                <a:lnTo>
                  <a:pt x="5625724" y="5625723"/>
                </a:lnTo>
                <a:lnTo>
                  <a:pt x="0" y="5625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66775"/>
            <a:ext cx="8115300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ZNALOSTNÍ PRACOVNÍK A INOVACE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797" y="4025265"/>
            <a:ext cx="789350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Lidé kteří pracujou hlavne hlavou.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"Nejcennějším kapitálem firmy nejsou stroje, ale znalosti zaměstnanců."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6797" y="3119438"/>
            <a:ext cx="8084742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ZNALOSTNÍ PRACOVNÍK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797" y="6144578"/>
            <a:ext cx="789350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"Podnik má jen dvě základní funkce: marketing a inovace. Vše ostatní jsou náklady."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797" y="5238750"/>
            <a:ext cx="7152186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MARKETING A INOVACE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6780920" y="877920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5896" y="-2033905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16914" y="8880666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5" y="0"/>
                </a:lnTo>
                <a:lnTo>
                  <a:pt x="2093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19851" y="3846386"/>
            <a:ext cx="12584887" cy="6440614"/>
          </a:xfrm>
          <a:custGeom>
            <a:avLst/>
            <a:gdLst/>
            <a:ahLst/>
            <a:cxnLst/>
            <a:rect r="r" b="b" t="t" l="l"/>
            <a:pathLst>
              <a:path h="6440614" w="12584887">
                <a:moveTo>
                  <a:pt x="0" y="0"/>
                </a:moveTo>
                <a:lnTo>
                  <a:pt x="12584887" y="0"/>
                </a:lnTo>
                <a:lnTo>
                  <a:pt x="12584887" y="6440614"/>
                </a:lnTo>
                <a:lnTo>
                  <a:pt x="0" y="6440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64" t="0" r="-1076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47725"/>
            <a:ext cx="6519835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VÝKONNOST VS. EFEKTIVITA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16914" y="4001326"/>
            <a:ext cx="70809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Dělat věci správně (rychle, levně)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6914" y="3548571"/>
            <a:ext cx="327617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VÝKONNOST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6914" y="5973176"/>
            <a:ext cx="70809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Dělat správné věci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6914" y="5520420"/>
            <a:ext cx="327617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ÚČINNOST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6914" y="7398346"/>
            <a:ext cx="708092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„Není nic tak zbytečného, jako dělat efektivně něco, co by se nemělo dělat vůbec.“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6780920" y="884959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9686" y="2413183"/>
            <a:ext cx="2006960" cy="3074612"/>
            <a:chOff x="0" y="0"/>
            <a:chExt cx="6350025" cy="97280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26" cy="9728078"/>
            </a:xfrm>
            <a:custGeom>
              <a:avLst/>
              <a:gdLst/>
              <a:ahLst/>
              <a:cxnLst/>
              <a:rect r="r" b="b" t="t" l="l"/>
              <a:pathLst>
                <a:path h="9728078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9728078"/>
                  </a:lnTo>
                  <a:lnTo>
                    <a:pt x="0" y="9728078"/>
                  </a:lnTo>
                  <a:close/>
                </a:path>
              </a:pathLst>
            </a:custGeom>
            <a:blipFill>
              <a:blip r:embed="rId4"/>
              <a:stretch>
                <a:fillRect l="-233" t="0" r="-233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935063" y="-1028700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01471" y="9266089"/>
            <a:ext cx="3382937" cy="3370635"/>
          </a:xfrm>
          <a:custGeom>
            <a:avLst/>
            <a:gdLst/>
            <a:ahLst/>
            <a:cxnLst/>
            <a:rect r="r" b="b" t="t" l="l"/>
            <a:pathLst>
              <a:path h="3370635" w="3382937">
                <a:moveTo>
                  <a:pt x="0" y="0"/>
                </a:moveTo>
                <a:lnTo>
                  <a:pt x="3382937" y="0"/>
                </a:lnTo>
                <a:lnTo>
                  <a:pt x="3382937" y="3370635"/>
                </a:lnTo>
                <a:lnTo>
                  <a:pt x="0" y="3370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9686" y="6084060"/>
            <a:ext cx="2006960" cy="3031534"/>
          </a:xfrm>
          <a:custGeom>
            <a:avLst/>
            <a:gdLst/>
            <a:ahLst/>
            <a:cxnLst/>
            <a:rect r="r" b="b" t="t" l="l"/>
            <a:pathLst>
              <a:path h="3031534" w="2006960">
                <a:moveTo>
                  <a:pt x="0" y="0"/>
                </a:moveTo>
                <a:lnTo>
                  <a:pt x="2006960" y="0"/>
                </a:lnTo>
                <a:lnTo>
                  <a:pt x="2006960" y="3031534"/>
                </a:lnTo>
                <a:lnTo>
                  <a:pt x="0" y="3031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95053" y="2413183"/>
            <a:ext cx="1993234" cy="3031534"/>
          </a:xfrm>
          <a:custGeom>
            <a:avLst/>
            <a:gdLst/>
            <a:ahLst/>
            <a:cxnLst/>
            <a:rect r="r" b="b" t="t" l="l"/>
            <a:pathLst>
              <a:path h="3031534" w="1993234">
                <a:moveTo>
                  <a:pt x="0" y="0"/>
                </a:moveTo>
                <a:lnTo>
                  <a:pt x="1993234" y="0"/>
                </a:lnTo>
                <a:lnTo>
                  <a:pt x="1993234" y="3031534"/>
                </a:lnTo>
                <a:lnTo>
                  <a:pt x="0" y="30315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95053" y="6012704"/>
            <a:ext cx="1993234" cy="2867962"/>
          </a:xfrm>
          <a:custGeom>
            <a:avLst/>
            <a:gdLst/>
            <a:ahLst/>
            <a:cxnLst/>
            <a:rect r="r" b="b" t="t" l="l"/>
            <a:pathLst>
              <a:path h="2867962" w="1993234">
                <a:moveTo>
                  <a:pt x="0" y="0"/>
                </a:moveTo>
                <a:lnTo>
                  <a:pt x="1993234" y="0"/>
                </a:lnTo>
                <a:lnTo>
                  <a:pt x="1993234" y="2867962"/>
                </a:lnTo>
                <a:lnTo>
                  <a:pt x="0" y="2867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47725"/>
            <a:ext cx="10523195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NEJZNÁMĚJŠÍ KNIHY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1740" y="6026910"/>
            <a:ext cx="3142668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Návod na osobní produktivitu lídra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(1967)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41740" y="2365085"/>
            <a:ext cx="314266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První kniha která definovala managment jako samostatnou disciplínu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(1954)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2395" y="2365085"/>
            <a:ext cx="3142668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Inovace není záblesk geniality, ale systematická práce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(1985)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92395" y="5964308"/>
            <a:ext cx="314266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Monumentální "encyklopedie" a bible pro manažery po celém světě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(1973)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102" y="2927032"/>
            <a:ext cx="17221796" cy="223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59"/>
              </a:lnSpc>
            </a:pPr>
            <a:r>
              <a:rPr lang="en-US" sz="1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DĚKUJI ZA POZORNOST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DAG4dzwr52o</dc:identifier>
  <dcterms:modified xsi:type="dcterms:W3CDTF">2011-08-01T06:04:30Z</dcterms:modified>
  <cp:revision>1</cp:revision>
  <dc:title>PETER FERDINAND DRUCKER</dc:title>
</cp:coreProperties>
</file>